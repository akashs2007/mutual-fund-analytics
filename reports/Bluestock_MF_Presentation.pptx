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A3E0"/>
                </a:solidFill>
                <a:latin typeface="Calibri"/>
              </a:rPr>
              <a:t>BLUESTOCK FINTECH  |  BATCH MJ28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A3E0"/>
                </a:solidFill>
                <a:latin typeface="Calibri"/>
              </a:rPr>
              <a:t>Capstone Project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Mutual Fund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1089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0F4F8"/>
                </a:solidFill>
                <a:latin typeface="Calibri"/>
              </a:rPr>
              <a:t>End-to-End Data Analytics | ETL · SQL · EDA · ML · Power BI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840480"/>
            <a:ext cx="5788152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Team: akashs3882  ·  bandarivyshnavi2  ·  vhedau47  ·  Kota Naga Raviteja  ·  divyamadiraju2006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A3E0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  India's MF industry generates massive data — NAV, AUM,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    SIP flows, investor transactions — but lacks unified analytics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  No single platform connects fund performance, investor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    behaviour, and market benchmarks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  AMCs struggle to identify at-risk SIP investors 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  Build end-to-end MF analytics platform on 10 AMFI datasets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  Design SQLite star-schema and load 1,42,000+ records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  Compute financial metrics: CAGR, Sharpe, Alpha, VaR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  Build interactive Power BI dashboard (4 pages)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444444"/>
                </a:solidFill>
                <a:latin typeface="Calibri"/>
              </a:rPr>
              <a:t>  Deliver actionable insights for AMCs and investors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3A5F"/>
                </a:solidFill>
                <a:latin typeface="Calibri"/>
              </a:rPr>
              <a:t>Scope: 40 Schemes  |  10 AMCs  |  64,320 NAV Records  |  32,778 Transactions  |  2022-2026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Calibri"/>
              </a:rPr>
              <a:t>Rs. 81 Lakh Crore AUM  |  26.12 Crore Folios  |  Rs. 31,002 Cr SIP 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57784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fund_master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40 schemes | metadata, risk, expense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557784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nav_history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46,000 rows | daily NAV 2022-2026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557784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aum_by_fund_house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90 rows | quarterly AUM by AMC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06240"/>
            <a:ext cx="557784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monthly_sip_inflows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48 rows | monthly SIP flows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12080"/>
            <a:ext cx="557784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category_inflows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144 rows | category-wise net inflows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188720"/>
            <a:ext cx="557784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234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234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industry_folio_count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21 rows | total industry folios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194560"/>
            <a:ext cx="557784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scheme_performance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40 rows | Sharpe, Alpha, Beta, drawdown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200400"/>
            <a:ext cx="557784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246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Calibri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246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investor_transactions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11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32,778 rows | demographics + amounts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206240"/>
            <a:ext cx="557784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Calibri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251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portfolio_holdings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617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322 rows | sector/stock weights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212080"/>
            <a:ext cx="557784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3E0"/>
                </a:solidFill>
                <a:latin typeface="Calibri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257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benchmark_indices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623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8,050 rows | Nifty 50 &amp; Nifty 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A3E0"/>
                </a:solidFill>
                <a:latin typeface="Calibri"/>
              </a:rPr>
              <a:t>Source: Bluestock Fintech Platform + mfapi.in Live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Architecture &amp; ETL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011680" cy="13716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10 CSVs + Live
mfapi.in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6916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79" y="1280160"/>
            <a:ext cx="2011680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79" y="1280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18288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Clean · Validate
Standardise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6916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280160"/>
            <a:ext cx="2011680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280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288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SQLite Star
Schema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6916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19" y="1280160"/>
            <a:ext cx="2011680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19" y="1280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ANALYSE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18288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EDA · Metrics
ML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6916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3A5F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280160"/>
            <a:ext cx="2011680" cy="13716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280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VISUALISE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82880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Power BI
4-Page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Database Schema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74720"/>
            <a:ext cx="22860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5204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dim_fund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52043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3E0"/>
                </a:solidFill>
                <a:latin typeface="Calibri"/>
              </a:rPr>
              <a:t>40 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52043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amfi_code PK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69080"/>
            <a:ext cx="22860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fact_nav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114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3E0"/>
                </a:solidFill>
                <a:latin typeface="Calibri"/>
              </a:rPr>
              <a:t>64,320 rows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114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amfi_code FK · date · nav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663440"/>
            <a:ext cx="22860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0915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fact_transactions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70915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3E0"/>
                </a:solidFill>
                <a:latin typeface="Calibri"/>
              </a:rPr>
              <a:t>32,778 rows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70915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amfi_code FK · amount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57800"/>
            <a:ext cx="22860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03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fact_performance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303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3E0"/>
                </a:solidFill>
                <a:latin typeface="Calibri"/>
              </a:rPr>
              <a:t>40 rows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303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Sharpe · Alpha · Beta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852160"/>
            <a:ext cx="2286000" cy="502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8978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fact_aum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897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3E0"/>
                </a:solidFill>
                <a:latin typeface="Calibri"/>
              </a:rPr>
              <a:t>90 rows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5897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fund_house · aum_crore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Tech Stack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383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Python · Pandas · NumPy · SciPy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SQLite · SQLAlchemy · Plotly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Seaborn · Matplotlib · Jupyter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Power BI Desktop · mfapi.in API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GitHub · VS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EDA Highlights — Industry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A3E0"/>
                </a:solidFill>
                <a:latin typeface="Calibri"/>
              </a:rPr>
              <a:t>Rs. 81L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Total Industry AUM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1887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280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7AE60"/>
                </a:solidFill>
                <a:latin typeface="Calibri"/>
              </a:rPr>
              <a:t>Rs. 31,002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SIP All-Time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39C12"/>
                </a:solidFill>
                <a:latin typeface="Calibri"/>
              </a:rPr>
              <a:t>26.12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Total Folios (Dec 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1887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280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3A5F"/>
                </a:solidFill>
                <a:latin typeface="Calibri"/>
              </a:rPr>
              <a:t>40 Schemes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Across 10 AMCs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697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Key EDA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1089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SBI Mutual Fund dominates AUM at Rs. 12.5L Cr — nearly 3x its closest competitor ICICI Prudential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SIP inflows grew 169% from Rs. 11,517 Cr (Jan 2022) to Rs. 31,002 Cr (Dec 2025) — all-time high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Flexi Cap and Small Cap categories attract consistently highest net inflows across all months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25-35 age group drives 42% of all SIP transactions; male investors outnumber female 2:1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Maharashtra &amp; Karnataka lead state-wise SIP volumes; T30 cities = 65% of total investment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Folios doubled from 13.26 Cr to 26.12 Cr — India's mutual fund penetration growing rapidly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EDA Highlights — NAV &amp; 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NAV Trend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All 40 funds showed strong NAV appreciation during 2023 bull run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Small Cap funds gained 35-45% in 2023 — highest across all categories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Mid-2024 saw a correction of 8-12% for equity funds, recovering by Q4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Debt funds showed stable, low-volatility NAV growth throughout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2025 saw renewed bull momentum across all equity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Correlation Matrix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Equity funds show high positive correlation (&gt; 0.80) with each other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Large Cap funds track Nifty 50 most closely (Beta near 1.0)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Small Cap funds have lower correlation with Large Cap peers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Debt funds show near-zero correlation with equity — good diversifiers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  Gilt funds show negative correlation during equity downturns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663440"/>
            <a:ext cx="11430000" cy="1737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Sector Allocation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Financial Services (28%) and Information Technology (14%) dominate equity fund allocations, comprising 42% of total portfolio weight. Healthcare and Consumer Goods follow at 11% and 9% respectively. Mid Cap and Small Cap funds show higher HHI concentration scores (&gt;0.15), indicating concentrated sector bets.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Performance Metrics — Risk &amp;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5760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CAGR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Compound Annual Growth Rate
(1yr, 3yr, 5yr)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3474720" cy="7315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Small Cap avg 3yr CAGR: 24.3%
Large Cap avg 3yr CAGR: 16.1%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65760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Sharpe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Excess return per unit of
total risk (Rf = 6.5%)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606040"/>
            <a:ext cx="3474720" cy="7315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Top fund Sharpe: 1.82
Industry avg: 0.94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65760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Sortino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737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Excess return per unit of
downside risk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606040"/>
            <a:ext cx="3474720" cy="7315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651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Better than Sharpe for
asymmetric return funds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365760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40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Alpha &amp; Beta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976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OLS regression vs
Nifty 100 benchmark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66359"/>
            <a:ext cx="3474720" cy="7315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21207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Top Alpha fund: +8.4%
Avg Beta: 0.91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749039"/>
            <a:ext cx="365760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840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Max Drawdown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2976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Peak-to-trough decline
for each fund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5166359"/>
            <a:ext cx="3474720" cy="7315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521207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Worst drawdown: -31.2%
(Small Cap, mid-2024)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749039"/>
            <a:ext cx="365760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8404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VaR / CVaR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297679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95% Value at Risk &amp;
Conditional VaR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5166359"/>
            <a:ext cx="3474720" cy="7315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5212079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Avg VaR (95%): -1.84%/day
CVaR: -2.61%/day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Fund Scorecard (0-100 Composite Score)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Scorecard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640080" cy="5486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3-Year CAGR 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Higher is better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640080" cy="5486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Sharpe Ratio 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334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Higher is better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640080" cy="5486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08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632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Alpha 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192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Higher is better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640080" cy="5486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9475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490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Expense Ratio 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05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Lower is better (inverse)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89120"/>
            <a:ext cx="640080" cy="5486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48055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Max Drawdown Rank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908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  <a:latin typeface="Calibri"/>
              </a:rPr>
              <a:t>Lower is better (inverse)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Top 5 Funds by 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45920"/>
            <a:ext cx="6400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7830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1645920"/>
            <a:ext cx="39319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SBI Small Cap Fund - Direct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64240" y="1645920"/>
            <a:ext cx="73152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64240" y="17830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87.4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468880"/>
            <a:ext cx="6400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6060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600" y="2468880"/>
            <a:ext cx="39319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2514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Nippon India Large Cap - Direct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064240" y="2468880"/>
            <a:ext cx="73152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64240" y="26060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82.1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291840"/>
            <a:ext cx="6400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4290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6600" y="3291840"/>
            <a:ext cx="39319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3337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ICICI Pru Bluechip - Direct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064240" y="3291840"/>
            <a:ext cx="73152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64240" y="34290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79.6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114800"/>
            <a:ext cx="6400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2519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86600" y="4114800"/>
            <a:ext cx="39319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78040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Kotak Bluechip - Direct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064240" y="4114800"/>
            <a:ext cx="73152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064240" y="42519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76.3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937760"/>
            <a:ext cx="640080" cy="685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5074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86600" y="4937760"/>
            <a:ext cx="39319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40" y="4983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  <a:latin typeface="Calibri"/>
              </a:rPr>
              <a:t>Axis Bluechip - Direct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64240" y="4937760"/>
            <a:ext cx="73152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64240" y="50749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74.8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Advanced Risk Insights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760720"/>
            <a:ext cx="1143000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583387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18% of SIP investors flagged as at-risk (avg gap &gt; 35 days)  |  Rolling 90-day Sharpe dipped below 0 in mid-2024 for all 5 key funds  |  Small Cap VaR: -2.4%/day vs Large Cap: -1.3%/day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Power BI Dashboard — Page 1 &amp; 2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0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Page 1: Industry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KPI Cards: Total AUM · SIP Inflows · Folios · Schemes
Line Chart: Industry AUM Trend 2022-2025
Bar Chart: AUM by AMC (SBI dominance highlighted)
Slicers: Year · Fund House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5120640" cy="1371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5F"/>
                </a:solidFill>
                <a:latin typeface="Calibri"/>
              </a:rPr>
              <a:t>Rs. 81L Cr Total AUM | Rs. 31K Cr SIP ATH
26.12 Cr Folios | 1,908 Schemes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548640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Page 2: Fund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Scatter Plot: Return vs Risk (bubble = AUM)
Sortable Scorecard Table (all 40 funds)
NAV Line vs Nifty 50 / Nifty 100 benchmark
Slicers: Fund House · Category · Plan
Drill-through: Fund → NAV Detail Page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657600"/>
            <a:ext cx="5120640" cy="1371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749039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5F"/>
                </a:solidFill>
                <a:latin typeface="Calibri"/>
              </a:rPr>
              <a:t>Top Sharpe: 1.82 | Top Alpha: +8.4%
Benchmark Tracking Error: 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A3E0"/>
                </a:solidFill>
                <a:latin typeface="Calibri"/>
              </a:rPr>
              <a:t>Bluestock Colour Theme Applied | Tooltips on all charts | Drill-through enabled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Power BI Dashboard — Page 3 &amp; 4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0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Page 3: Investor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Bar Chart: Transaction amount by state (Top 15)
Donut: SIP / Lumpsum / Redemption split
Bar: Age group vs avg SIP amount
Line: Monthly transaction volume trend
Slicers: State · Age Group · City Tier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5120640" cy="1371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5F"/>
                </a:solidFill>
                <a:latin typeface="Calibri"/>
              </a:rPr>
              <a:t>SIP: 68% | Lumpsum: 22% | Redemption: 10%
Top State: Maharashtra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548640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Page 4: SIP &amp; Market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Dual-axis: SIP Inflow (bar) + Nifty 50 (line)
Category Inflow Heatmap (months vs categories)
Top 5 Categories by Net Inflow FY25
SIP YoY Growth Trend Annotation
Market correlation indicators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657600"/>
            <a:ext cx="5120640" cy="13716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749039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5F"/>
                </a:solidFill>
                <a:latin typeface="Calibri"/>
              </a:rPr>
              <a:t>SIP-Market Correlation: 0.74
Flexi Cap: Highest FY25 Inflow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30936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A3E0"/>
                </a:solidFill>
                <a:latin typeface="Calibri"/>
              </a:rPr>
              <a:t>Exported as .pbix | PDF Export | 4 PNG Screenshots for Final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Findings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09728" cy="219456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234440"/>
            <a:ext cx="356616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3E0"/>
                </a:solidFill>
                <a:latin typeface="Calibri"/>
              </a:rPr>
              <a:t>Industry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830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AUM doubled to Rs. 81L Cr. SIP inflows hit Rs. 31,002 Cr ATH. Folios doubled to 26.12 Cr in just 4 years.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34440"/>
            <a:ext cx="109728" cy="2194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2272" y="1234440"/>
            <a:ext cx="356616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Top Performers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Small Cap funds outperform Large Cap by 8-12% over 3 years. Direct plans consistently beat Regular plans by 1-1.5% annually.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34440"/>
            <a:ext cx="109728" cy="21945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94192" y="1234440"/>
            <a:ext cx="356616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Investor Behaviour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17830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18% of SIP investors are at-risk. 25-35 age group drives 42% of SIPs. B30 cities represent 35% — an underserved growth opportunity.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109728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" y="3794760"/>
            <a:ext cx="356616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886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Risk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34340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Small Cap VaR is 2x Large Cap. Mid-2024 saw max drawdown of -31.2%. Rolling Sharpe recovered strongly by Q1 2025.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94760"/>
            <a:ext cx="109728" cy="21945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62272" y="3794760"/>
            <a:ext cx="3566160" cy="21945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886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  <a:latin typeface="Calibri"/>
              </a:rPr>
              <a:t>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34340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Target at-risk SIP investors with automated reminders. Focus digital campaigns on B30 cities. Disclose HHI concentration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A3E0"/>
                </a:solidFill>
                <a:latin typeface="Calibri"/>
              </a:rPr>
              <a:t>Capstone Project I — Mutual Fund Analytics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474720"/>
            <a:ext cx="6702552" cy="36576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749039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  <a:latin typeface="Calibri"/>
              </a:rPr>
              <a:t>data_ingestion.py  |  live_nav_fetch.py  |  data_cleaning.py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062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  <a:latin typeface="Calibri"/>
              </a:rPr>
              <a:t>bluestock_mf.db  |  schema.sql  |  queries.sql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6634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  <a:latin typeface="Calibri"/>
              </a:rPr>
              <a:t>EDA_Analysis.ipynb  |  Performance_Analytics.ipynb  |  Advanced_Analytics.ipynb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1206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  <a:latin typeface="Calibri"/>
              </a:rPr>
              <a:t>bluestock_mf_dashboard.pbix  |  Final_Report.pdf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5778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F4F8"/>
                </a:solidFill>
                <a:latin typeface="Calibri"/>
              </a:rPr>
              <a:t>README.md  |  run_pipeline.py  |  GitHub v1.0 Tag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21792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A3E0"/>
                </a:solidFill>
                <a:latin typeface="Calibri"/>
              </a:rPr>
              <a:t>Team MJ28  |  Bluestock Fintech Internship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